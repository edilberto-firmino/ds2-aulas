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f8799739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f8799739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4b92227990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4b92227990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f87997393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f87997393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f87997393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f87997393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4b92227990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4b92227990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10" name="Google Shape;10;p2"/>
          <p:cNvPicPr preferRelativeResize="0"/>
          <p:nvPr/>
        </p:nvPicPr>
        <p:blipFill rotWithShape="1">
          <a:blip r:embed="rId2">
            <a:alphaModFix amt="66000"/>
          </a:blip>
          <a:srcRect b="39565" l="20991" r="40112" t="2690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11" name="Google Shape;11;p2"/>
          <p:cNvPicPr preferRelativeResize="0"/>
          <p:nvPr/>
        </p:nvPicPr>
        <p:blipFill rotWithShape="1">
          <a:blip r:embed="rId3">
            <a:alphaModFix amt="31000"/>
          </a:blip>
          <a:srcRect b="11297" l="14009" r="43289" t="35833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" name="Google Shape;39;p3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7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1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8" name="Google Shape;1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9" name="Google Shape;179;p13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4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5" name="Google Shape;20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6" name="Google Shape;206;p14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213" name="Google Shape;213;p16"/>
          <p:cNvPicPr preferRelativeResize="0"/>
          <p:nvPr/>
        </p:nvPicPr>
        <p:blipFill rotWithShape="1">
          <a:blip r:embed="rId2">
            <a:alphaModFix amt="80000"/>
          </a:blip>
          <a:srcRect b="25870" l="30474" r="30474" t="11955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7" name="Google Shape;217;p16">
            <a:hlinkClick action="ppaction://hlinksldjump" r:id="rId3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>
            <a:hlinkClick action="ppaction://hlinksldjump" r:id="rId4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>
            <a:hlinkClick action="ppaction://hlinksldjump" r:id="rId5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>
            <a:hlinkClick action="ppaction://hlinksldjump" r:id="rId6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/>
        </p:nvSpPr>
        <p:spPr>
          <a:xfrm>
            <a:off x="1052550" y="201050"/>
            <a:ext cx="703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Edilberto Firmino</a:t>
            </a:r>
            <a:endParaRPr sz="3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3062850" y="2064601"/>
            <a:ext cx="3018300" cy="20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0" name="Google Shape;23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325" y="1086325"/>
            <a:ext cx="7525350" cy="38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750" y="2354075"/>
            <a:ext cx="2400300" cy="877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0100" y="2419350"/>
            <a:ext cx="2254700" cy="172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7"/>
          <p:cNvSpPr/>
          <p:nvPr/>
        </p:nvSpPr>
        <p:spPr>
          <a:xfrm>
            <a:off x="4235050" y="798700"/>
            <a:ext cx="2454600" cy="8769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latin typeface="Lato"/>
                <a:ea typeface="Lato"/>
                <a:cs typeface="Lato"/>
                <a:sym typeface="Lato"/>
              </a:rPr>
              <a:t>Mestrado</a:t>
            </a:r>
            <a:endParaRPr b="1" sz="2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50">
                <a:latin typeface="Roboto"/>
                <a:ea typeface="Roboto"/>
                <a:cs typeface="Roboto"/>
                <a:sym typeface="Roboto"/>
              </a:rPr>
              <a:t>Introdução à Programação Orientada a Objetos (POO)</a:t>
            </a:r>
            <a:endParaRPr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39" name="Google Shape;239;p18"/>
          <p:cNvSpPr txBox="1"/>
          <p:nvPr>
            <p:ph idx="1" type="subTitle"/>
          </p:nvPr>
        </p:nvSpPr>
        <p:spPr>
          <a:xfrm>
            <a:off x="3537150" y="3350100"/>
            <a:ext cx="50175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500"/>
              <a:t>Primeira aula - Conceitos básicos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 txBox="1"/>
          <p:nvPr/>
        </p:nvSpPr>
        <p:spPr>
          <a:xfrm>
            <a:off x="1297500" y="1132625"/>
            <a:ext cx="703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que é POO?</a:t>
            </a:r>
            <a:endParaRPr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2256550" y="2064600"/>
            <a:ext cx="6060600" cy="20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Paradigma de programação baseado em objetos.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Objetos representam coisas do mundo real.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Usa classes como moldes para criar objetos.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Conceitos básicos</a:t>
            </a:r>
            <a:endParaRPr sz="3000"/>
          </a:p>
        </p:txBody>
      </p:sp>
      <p:sp>
        <p:nvSpPr>
          <p:cNvPr id="251" name="Google Shape;251;p20"/>
          <p:cNvSpPr txBox="1"/>
          <p:nvPr>
            <p:ph idx="1" type="body"/>
          </p:nvPr>
        </p:nvSpPr>
        <p:spPr>
          <a:xfrm>
            <a:off x="2165125" y="1389150"/>
            <a:ext cx="6911700" cy="33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Classe → molde ou modelo (ex: Cachorro).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2000"/>
              <a:t>• Objeto → instância da classe (ex: Rex, Luna).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2000"/>
              <a:t>• Atributos → características (nome, idade, cor).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2000"/>
              <a:t>• Métodos → ações (latir, correr, comer).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Pilares da POO</a:t>
            </a:r>
            <a:endParaRPr sz="2500"/>
          </a:p>
        </p:txBody>
      </p:sp>
      <p:sp>
        <p:nvSpPr>
          <p:cNvPr id="257" name="Google Shape;257;p21"/>
          <p:cNvSpPr txBox="1"/>
          <p:nvPr>
            <p:ph idx="1" type="body"/>
          </p:nvPr>
        </p:nvSpPr>
        <p:spPr>
          <a:xfrm>
            <a:off x="873150" y="1307850"/>
            <a:ext cx="8122500" cy="3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FFFFFF"/>
                </a:solidFill>
              </a:rPr>
              <a:t>1. Abstração → Focar no essencial, ignorando detalhes irrelevantes.</a:t>
            </a:r>
            <a:endParaRPr sz="1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FFFFFF"/>
                </a:solidFill>
              </a:rPr>
              <a:t>2. Encapsulamento → Esconder detalhes internos e expor apenas o necessário.</a:t>
            </a:r>
            <a:endParaRPr sz="1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FFFFFF"/>
                </a:solidFill>
              </a:rPr>
              <a:t>3. Herança → Reutilizar código de classes maiores em classes derivadas.</a:t>
            </a:r>
            <a:endParaRPr sz="1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FFFFFF"/>
                </a:solidFill>
              </a:rPr>
              <a:t>4. Polimorfismo → Mesmo método pode ter comportamentos diferentes.</a:t>
            </a:r>
            <a:endParaRPr sz="1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 txBox="1"/>
          <p:nvPr>
            <p:ph type="title"/>
          </p:nvPr>
        </p:nvSpPr>
        <p:spPr>
          <a:xfrm>
            <a:off x="861775" y="2396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/>
              <a:t>Exemplo em Python</a:t>
            </a:r>
            <a:endParaRPr sz="2900"/>
          </a:p>
        </p:txBody>
      </p:sp>
      <p:sp>
        <p:nvSpPr>
          <p:cNvPr id="263" name="Google Shape;263;p22"/>
          <p:cNvSpPr txBox="1"/>
          <p:nvPr>
            <p:ph idx="1" type="body"/>
          </p:nvPr>
        </p:nvSpPr>
        <p:spPr>
          <a:xfrm>
            <a:off x="2831600" y="815100"/>
            <a:ext cx="5300400" cy="3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pt-BR" sz="1717">
                <a:solidFill>
                  <a:srgbClr val="FFFFFF"/>
                </a:solidFill>
              </a:rPr>
              <a:t>class Cachorro:</a:t>
            </a:r>
            <a:endParaRPr sz="1717">
              <a:solidFill>
                <a:srgbClr val="FFFFFF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523"/>
              <a:buNone/>
            </a:pPr>
            <a:r>
              <a:rPr lang="pt-BR" sz="1717">
                <a:solidFill>
                  <a:srgbClr val="FFFFFF"/>
                </a:solidFill>
              </a:rPr>
              <a:t>    def __init__(self, nome, idade):</a:t>
            </a:r>
            <a:endParaRPr sz="1717">
              <a:solidFill>
                <a:srgbClr val="FFFFFF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523"/>
              <a:buNone/>
            </a:pPr>
            <a:r>
              <a:rPr lang="pt-BR" sz="1717">
                <a:solidFill>
                  <a:srgbClr val="FFFFFF"/>
                </a:solidFill>
              </a:rPr>
              <a:t>        self.nome = nome</a:t>
            </a:r>
            <a:endParaRPr sz="1717">
              <a:solidFill>
                <a:srgbClr val="FFFFFF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523"/>
              <a:buNone/>
            </a:pPr>
            <a:r>
              <a:rPr lang="pt-BR" sz="1717">
                <a:solidFill>
                  <a:srgbClr val="FFFFFF"/>
                </a:solidFill>
              </a:rPr>
              <a:t>        self.idade = idad</a:t>
            </a:r>
            <a:r>
              <a:rPr lang="pt-BR" sz="1717">
                <a:solidFill>
                  <a:srgbClr val="FFFFFF"/>
                </a:solidFill>
              </a:rPr>
              <a:t>e</a:t>
            </a:r>
            <a:endParaRPr sz="1717">
              <a:solidFill>
                <a:srgbClr val="FFFFFF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523"/>
              <a:buNone/>
            </a:pPr>
            <a:r>
              <a:rPr lang="pt-BR" sz="1717">
                <a:solidFill>
                  <a:srgbClr val="FFFFFF"/>
                </a:solidFill>
              </a:rPr>
              <a:t>    def latir(self):</a:t>
            </a:r>
            <a:endParaRPr sz="1717">
              <a:solidFill>
                <a:srgbClr val="FFFFFF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523"/>
              <a:buNone/>
            </a:pPr>
            <a:r>
              <a:rPr lang="pt-BR" sz="1717">
                <a:solidFill>
                  <a:srgbClr val="FFFFFF"/>
                </a:solidFill>
              </a:rPr>
              <a:t>        return f"{self.nome} está latindo!"</a:t>
            </a:r>
            <a:endParaRPr sz="1717">
              <a:solidFill>
                <a:srgbClr val="FFFFFF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523"/>
              <a:buNone/>
            </a:pPr>
            <a:r>
              <a:rPr lang="pt-BR" sz="1717">
                <a:solidFill>
                  <a:srgbClr val="FFFFFF"/>
                </a:solidFill>
              </a:rPr>
              <a:t>dog1 = Cachorro("Rex", 3)</a:t>
            </a:r>
            <a:endParaRPr sz="1717">
              <a:solidFill>
                <a:srgbClr val="FFFFFF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523"/>
              <a:buNone/>
            </a:pPr>
            <a:r>
              <a:rPr lang="pt-BR" sz="1717">
                <a:solidFill>
                  <a:srgbClr val="FFFFFF"/>
                </a:solidFill>
              </a:rPr>
              <a:t>dog2 = Cachorro("Luna", 2)</a:t>
            </a:r>
            <a:endParaRPr sz="1717">
              <a:solidFill>
                <a:srgbClr val="FFFFFF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523"/>
              <a:buNone/>
            </a:pPr>
            <a:r>
              <a:rPr lang="pt-BR" sz="1717">
                <a:solidFill>
                  <a:srgbClr val="FFFFFF"/>
                </a:solidFill>
              </a:rPr>
              <a:t>print(dog1.latir())</a:t>
            </a:r>
            <a:endParaRPr sz="1717">
              <a:solidFill>
                <a:srgbClr val="FFFFFF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1600"/>
              </a:spcAft>
              <a:buSzPts val="523"/>
              <a:buNone/>
            </a:pPr>
            <a:r>
              <a:t/>
            </a:r>
            <a:endParaRPr sz="1717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