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font" Target="fonts/Montserrat-regular.fntdata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87997393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87997393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87997393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87997393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a9dbf7f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a9dbf7f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a9dbf7f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a9dbf7f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slide" Target="/ppt/slides/slide1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406605.jpg" id="10" name="Google Shape;10;p2"/>
          <p:cNvPicPr preferRelativeResize="0"/>
          <p:nvPr/>
        </p:nvPicPr>
        <p:blipFill rotWithShape="1">
          <a:blip r:embed="rId2">
            <a:alphaModFix amt="66000"/>
          </a:blip>
          <a:srcRect b="39565" l="20991" r="40112" t="2690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descr="offset_comp_342327_edtied.jpg" id="11" name="Google Shape;11;p2"/>
          <p:cNvPicPr preferRelativeResize="0"/>
          <p:nvPr/>
        </p:nvPicPr>
        <p:blipFill rotWithShape="1">
          <a:blip r:embed="rId3">
            <a:alphaModFix amt="31000"/>
          </a:blip>
          <a:srcRect b="11297" l="14009" r="43289" t="35833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" name="Google Shape;39;p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1">
  <p:cSld name="TITLE_AND_BODY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>
            <p:ph idx="1" type="body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6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6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2">
  <p:cSld name="TITLE_AND_BODY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7"/>
          <p:cNvSpPr txBox="1"/>
          <p:nvPr>
            <p:ph idx="2" type="title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7"/>
          <p:cNvSpPr txBox="1"/>
          <p:nvPr>
            <p:ph idx="1" type="body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3" name="Google Shape;12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0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1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12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12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13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5" name="Google Shape;20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6" name="Google Shape;206;p14">
            <a:hlinkClick action="ppaction://hlinksldjump" r:id="rId2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>
            <a:hlinkClick action="ppaction://hlinksldjump" r:id="rId3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">
            <a:hlinkClick action="ppaction://hlinksldjump" r:id="rId4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>
            <a:hlinkClick action="ppaction://hlinksldjump" r:id="rId5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_alt3">
  <p:cSld name="TITLE_AND_BODY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ffset_comp_343059.jpg" id="213" name="Google Shape;213;p16"/>
          <p:cNvPicPr preferRelativeResize="0"/>
          <p:nvPr/>
        </p:nvPicPr>
        <p:blipFill rotWithShape="1">
          <a:blip r:embed="rId2">
            <a:alphaModFix amt="80000"/>
          </a:blip>
          <a:srcRect b="25870" l="30474" r="30474" t="11955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fmla="val 50343" name="adj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5" name="Google Shape;215;p16"/>
          <p:cNvSpPr txBox="1"/>
          <p:nvPr>
            <p:ph idx="1" type="body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7" name="Google Shape;217;p16">
            <a:hlinkClick action="ppaction://hlinksldjump" r:id="rId3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>
            <a:hlinkClick action="ppaction://hlinksldjump" r:id="rId4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>
            <a:hlinkClick action="ppaction://hlinksldjump" r:id="rId5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>
            <a:hlinkClick action="ppaction://hlinksldjump" r:id="rId6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/>
        </p:nvSpPr>
        <p:spPr>
          <a:xfrm>
            <a:off x="2946050" y="282700"/>
            <a:ext cx="7038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1014100" y="428850"/>
            <a:ext cx="6961500" cy="4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</a:rPr>
              <a:t>Cadastro simples de si mesmo (variáveis + f-string)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O que fazer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pt-BR">
                <a:solidFill>
                  <a:schemeClr val="lt1"/>
                </a:solidFill>
              </a:rPr>
              <a:t>Crie 3 variáveis para armazenar seu nome, idade e cidade.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b="1" lang="pt-BR">
                <a:solidFill>
                  <a:schemeClr val="lt1"/>
                </a:solidFill>
              </a:rPr>
              <a:t>Monte uma frase de apresentação usando interpolação de strings (f-string) e exiba na tela.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Exemplo de saída esperada</a:t>
            </a:r>
            <a:endParaRPr b="1">
              <a:solidFill>
                <a:schemeClr val="lt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Olá, meu nome é Ana, tenho 25 anos e moro em São Paulo.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</a:rPr>
              <a:t>Critérios de aceite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pt-BR">
                <a:solidFill>
                  <a:schemeClr val="lt1"/>
                </a:solidFill>
              </a:rPr>
              <a:t>Usa 3 variáveis distintas.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pt-BR">
                <a:solidFill>
                  <a:schemeClr val="lt1"/>
                </a:solidFill>
              </a:rPr>
              <a:t>Exibe a mensagem em uma única linha bem formatada.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idx="1" type="body"/>
          </p:nvPr>
        </p:nvSpPr>
        <p:spPr>
          <a:xfrm>
            <a:off x="1165425" y="109100"/>
            <a:ext cx="7038900" cy="49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000">
                <a:latin typeface="Arial"/>
                <a:ea typeface="Arial"/>
                <a:cs typeface="Arial"/>
                <a:sym typeface="Arial"/>
              </a:rPr>
              <a:t>Cadastro dinâmico de pessoa (input + formatação)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O que fazer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Pergunte ao usuário: nome, CPF e endereço.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AutoNum type="arabicPeriod"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Mostre uma ficha organizada com os dados informados.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Exemplo de saída esperada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>
                <a:latin typeface="Arial"/>
                <a:ea typeface="Arial"/>
                <a:cs typeface="Arial"/>
                <a:sym typeface="Arial"/>
              </a:rPr>
              <a:t>--- FICHA DE CADASTRO ---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Nome: Maria Silva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CPF: 123.456.789-09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Endereço: Rua das Flores, 100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Critérios de aceite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Lê 3 entradas com </a:t>
            </a:r>
            <a:r>
              <a:rPr b="1" lang="pt-BR" sz="1400">
                <a:latin typeface="Roboto Mono"/>
                <a:ea typeface="Roboto Mono"/>
                <a:cs typeface="Roboto Mono"/>
                <a:sym typeface="Roboto Mono"/>
              </a:rPr>
              <a:t>input</a:t>
            </a: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pt-BR" sz="1400">
                <a:latin typeface="Arial"/>
                <a:ea typeface="Arial"/>
                <a:cs typeface="Arial"/>
                <a:sym typeface="Arial"/>
              </a:rPr>
              <a:t>Exibe um cabeçalho e cada campo em sua própria linha.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1282825" y="54200"/>
            <a:ext cx="7113900" cy="49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>
                <a:latin typeface="Arial"/>
                <a:ea typeface="Arial"/>
                <a:cs typeface="Arial"/>
                <a:sym typeface="Arial"/>
              </a:rPr>
              <a:t>Ficha de cadastro de pets (dicionário + laço)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O que fazer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Solicite: nome, tipo (cachorro, gato, etc.), raça e idade do pet.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Armazene as informações em uma estrutura de chave/valor (dicionário).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AutoNum type="arabicPeriod"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Exiba a ficha do pet iterando sobre os campos.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Exemplo de saída esperada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200"/>
              <a:t>--- FICHA DO PET ---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Nome: Thor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Tipo: cachorro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200"/>
              <a:t>Raça: SRD</a:t>
            </a:r>
            <a:endParaRPr b="1" sz="12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100">
                <a:latin typeface="Arial"/>
                <a:ea typeface="Arial"/>
                <a:cs typeface="Arial"/>
                <a:sym typeface="Arial"/>
              </a:rPr>
              <a:t>Idade: 3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1282825" y="54200"/>
            <a:ext cx="7113900" cy="49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900">
                <a:latin typeface="Arial"/>
                <a:ea typeface="Arial"/>
                <a:cs typeface="Arial"/>
                <a:sym typeface="Arial"/>
              </a:rPr>
              <a:t>Calculadora de IMC (condicionais)</a:t>
            </a:r>
            <a:endParaRPr b="1"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O que fazer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Peça peso (kg) e altura (m) ao usuário.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Calcule o IMC = peso / (altura²).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AutoNum type="arabicPeriod"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Mostre o valor do IMC com 2 casas decimais e classifique: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Abaixo de 18.5 → "Abaixo do peso"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18.5 a 24.9 → "Peso normal"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25.0 a 29.9 → "Sobrepeso"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○"/>
            </a:pPr>
            <a:r>
              <a:rPr b="1" lang="pt-BR" sz="1300">
                <a:latin typeface="Arial"/>
                <a:ea typeface="Arial"/>
                <a:cs typeface="Arial"/>
                <a:sym typeface="Arial"/>
              </a:rPr>
              <a:t>30.0 ou mais → "Obesidade"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Exemplo de saída esperada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Seu IMC é: 22.83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Classificação: Peso normal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Critérios de aceite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Lê e converte números corretamente.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Arial"/>
              <a:buChar char="●"/>
            </a:pPr>
            <a:r>
              <a:rPr b="1" lang="pt-BR">
                <a:latin typeface="Arial"/>
                <a:ea typeface="Arial"/>
                <a:cs typeface="Arial"/>
                <a:sym typeface="Arial"/>
              </a:rPr>
              <a:t>Classificação coerente com a faixa calculada.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idx="1" type="body"/>
          </p:nvPr>
        </p:nvSpPr>
        <p:spPr>
          <a:xfrm>
            <a:off x="1282825" y="54200"/>
            <a:ext cx="7113900" cy="49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2100">
                <a:latin typeface="Arial"/>
                <a:ea typeface="Arial"/>
                <a:cs typeface="Arial"/>
                <a:sym typeface="Arial"/>
              </a:rPr>
              <a:t>Calculadora básica (quatro operações)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latin typeface="Arial"/>
                <a:ea typeface="Arial"/>
                <a:cs typeface="Arial"/>
                <a:sym typeface="Arial"/>
              </a:rPr>
              <a:t>O que fazer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rabicPeriod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Solicite dois números ao usuário.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rabicPeriod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Peça a operação desejada: </a:t>
            </a:r>
            <a:r>
              <a:rPr lang="pt-BR" sz="1500"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500"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500">
                <a:latin typeface="Roboto Mono"/>
                <a:ea typeface="Roboto Mono"/>
                <a:cs typeface="Roboto Mono"/>
                <a:sym typeface="Roboto Mono"/>
              </a:rPr>
              <a:t>*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lang="pt-BR" sz="1500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rabicPeriod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Calcule e exiba o resultado.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AutoNum type="arabicPeriod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Trate </a:t>
            </a:r>
            <a:r>
              <a:rPr b="1" lang="pt-BR" sz="1500">
                <a:latin typeface="Arial"/>
                <a:ea typeface="Arial"/>
                <a:cs typeface="Arial"/>
                <a:sym typeface="Arial"/>
              </a:rPr>
              <a:t>divisão por zero</a:t>
            </a:r>
            <a:r>
              <a:rPr lang="pt-BR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latin typeface="Arial"/>
                <a:ea typeface="Arial"/>
                <a:cs typeface="Arial"/>
                <a:sym typeface="Arial"/>
              </a:rPr>
              <a:t>Exemplo de saída esperada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Resultado: 42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500">
                <a:latin typeface="Arial"/>
                <a:ea typeface="Arial"/>
                <a:cs typeface="Arial"/>
                <a:sym typeface="Arial"/>
              </a:rPr>
              <a:t>Critérios de aceite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Aceita as quatro operações.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pt-BR" sz="1500">
                <a:latin typeface="Arial"/>
                <a:ea typeface="Arial"/>
                <a:cs typeface="Arial"/>
                <a:sym typeface="Arial"/>
              </a:rPr>
              <a:t>Mensagem clara para operação inválida.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